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6978a48ea4588" /><Relationship Type="http://schemas.openxmlformats.org/officeDocument/2006/relationships/extended-properties" Target="/docProps/app.xml" Id="R4078a9ad8c064937" /><Relationship Type="http://schemas.openxmlformats.org/officeDocument/2006/relationships/officeDocument" Target="/ppt/presentation.xml" Id="R19cb5733ce78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49dd263d24ebf"/>
  </p:sldMasterIdLst>
  <p:notesMasterIdLst>
    <p:notesMasterId xmlns:r="http://schemas.openxmlformats.org/officeDocument/2006/relationships" r:id="R066c6a5bad23475f"/>
  </p:notesMasterIdLst>
  <p:sldIdLst>
    <p:sldId xmlns:r="http://schemas.openxmlformats.org/officeDocument/2006/relationships" id="256" r:id="R87e8fc0245884249"/>
    <p:sldId xmlns:r="http://schemas.openxmlformats.org/officeDocument/2006/relationships" id="257" r:id="R2afc405c9c5f48b0"/>
    <p:sldId xmlns:r="http://schemas.openxmlformats.org/officeDocument/2006/relationships" id="258" r:id="R30d236eba7374606"/>
    <p:sldId xmlns:r="http://schemas.openxmlformats.org/officeDocument/2006/relationships" id="259" r:id="Rf023f9e5f4324dc0"/>
    <p:sldId xmlns:r="http://schemas.openxmlformats.org/officeDocument/2006/relationships" id="260" r:id="R7a856c6752bc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45c1bbefa4ddd" /><Relationship Type="http://schemas.openxmlformats.org/officeDocument/2006/relationships/slideMaster" Target="/ppt/slideMasters/slideMaster1.xml" Id="R54549dd263d24ebf" /><Relationship Type="http://schemas.openxmlformats.org/officeDocument/2006/relationships/notesMaster" Target="/ppt/notesMasters/notesMaster1.xml" Id="R066c6a5bad23475f" /><Relationship Type="http://schemas.openxmlformats.org/officeDocument/2006/relationships/presProps" Target="/ppt/presProps.xml" Id="R111548c8201c4913" /><Relationship Type="http://schemas.openxmlformats.org/officeDocument/2006/relationships/tableStyles" Target="/ppt/tableStyles.xml" Id="R02e79201cae043e4" /><Relationship Type="http://schemas.openxmlformats.org/officeDocument/2006/relationships/slide" Target="/ppt/slides/slide1.xml" Id="R87e8fc0245884249" /><Relationship Type="http://schemas.openxmlformats.org/officeDocument/2006/relationships/slide" Target="/ppt/slides/slide2.xml" Id="R2afc405c9c5f48b0" /><Relationship Type="http://schemas.openxmlformats.org/officeDocument/2006/relationships/slide" Target="/ppt/slides/slide3.xml" Id="R30d236eba7374606" /><Relationship Type="http://schemas.openxmlformats.org/officeDocument/2006/relationships/slide" Target="/ppt/slides/slide4.xml" Id="Rf023f9e5f4324dc0" /><Relationship Type="http://schemas.openxmlformats.org/officeDocument/2006/relationships/slide" Target="/ppt/slides/slide5.xml" Id="R7a856c6752bc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e792522e7e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3ab5d6cc041d4" /><Relationship Type="http://schemas.openxmlformats.org/officeDocument/2006/relationships/notesMaster" Target="/ppt/notesMasters/notesMaster1.xml" Id="R7f6b1c83e640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ba88d917854842" /><Relationship Type="http://schemas.openxmlformats.org/officeDocument/2006/relationships/notesMaster" Target="/ppt/notesMasters/notesMaster1.xml" Id="R8830800e248d45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222a2ca444561" /><Relationship Type="http://schemas.openxmlformats.org/officeDocument/2006/relationships/notesMaster" Target="/ppt/notesMasters/notesMaster1.xml" Id="Rd0ba22e7670c4a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036f026aa74cb2" /><Relationship Type="http://schemas.openxmlformats.org/officeDocument/2006/relationships/notesMaster" Target="/ppt/notesMasters/notesMaster1.xml" Id="Reb2298b68a7c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7fcd7e246645a1" /><Relationship Type="http://schemas.openxmlformats.org/officeDocument/2006/relationships/notesMaster" Target="/ppt/notesMasters/notesMaster1.xml" Id="R63e9ce19563b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536f3383b48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e70954aed4304" /><Relationship Type="http://schemas.openxmlformats.org/officeDocument/2006/relationships/slideLayout" Target="/ppt/slideLayouts/slideLayout1.xml" Id="R7b013ab33b5e4a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013ab33b5e4a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d139ae00447c" /><Relationship Type="http://schemas.openxmlformats.org/officeDocument/2006/relationships/notesSlide" Target="/ppt/notesSlides/notesSlide1.xml" Id="R8f9a13e6892948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3d2929c446f9" /><Relationship Type="http://schemas.openxmlformats.org/officeDocument/2006/relationships/notesSlide" Target="/ppt/notesSlides/notesSlide2.xml" Id="R90ba61b98a47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89930f8fa4750" /><Relationship Type="http://schemas.openxmlformats.org/officeDocument/2006/relationships/notesSlide" Target="/ppt/notesSlides/notesSlide3.xml" Id="Rde0c78ecf657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59eb9649f4da8" /><Relationship Type="http://schemas.openxmlformats.org/officeDocument/2006/relationships/notesSlide" Target="/ppt/notesSlides/notesSlide4.xml" Id="Red0448a23e54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31b543fe04674" /><Relationship Type="http://schemas.openxmlformats.org/officeDocument/2006/relationships/notesSlide" Target="/ppt/notesSlides/notesSlide5.xml" Id="R5b4f7a75f16e44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7DC1C-AF0E-4460-908B-722E8FA2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7778"/>
                </a:solidFill>
              </a:defRPr>
            </a:pPr>
            <a:r>
              <a:rPr sz="1050" b="1">
                <a:solidFill>
                  <a:srgbClr val="1C7778"/>
                </a:solidFill>
              </a:rPr>
              <a:t>企业 AI 应用诊断与改造平台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B1244-A58E-4F7D-BBF4-CEE3A07D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6B3D"/>
                </a:solidFill>
              </a:defRPr>
            </a:pPr>
            <a:r>
              <a:rPr sz="1050" b="1">
                <a:solidFill>
                  <a:srgbClr val="D66B3D"/>
                </a:solidFill>
              </a:rPr>
              <a:t>01 / 项目概览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0A156-A59B-4498-8F83-52048C14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EF069-366E-42AC-966B-81327B94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595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32F"/>
                </a:solidFill>
              </a:defRPr>
            </a:pPr>
            <a:r>
              <a:rPr sz="3150" b="1">
                <a:solidFill>
                  <a:srgbClr val="17232F"/>
                </a:solidFill>
              </a:rPr>
              <a:t>先还原真实工作，</a:t>
            </a:r>
          </a:p>
          <a:p xmlns:a="http://schemas.openxmlformats.org/drawingml/2006/main">
            <a:pPr>
              <a:defRPr sz="3150" b="1">
                <a:solidFill>
                  <a:srgbClr val="17232F"/>
                </a:solidFill>
              </a:defRPr>
            </a:pPr>
            <a:r>
              <a:rPr sz="3150" b="1">
                <a:solidFill>
                  <a:srgbClr val="17232F"/>
                </a:solidFill>
              </a:rPr>
              <a:t>再决定 AI 怎么改造。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A42FF-BBD8-4568-B909-C79D9F9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B52"/>
                </a:solidFill>
              </a:defRPr>
            </a:pPr>
            <a:r>
              <a:rPr sz="1575">
                <a:solidFill>
                  <a:srgbClr val="173B52"/>
                </a:solidFill>
              </a:rPr>
              <a:t>通过 Agent 规模化摸排员工工作与企业流程，结合制度、系统和业务证据，帮助企业识别真正值得 AI 改造的场景，并形成可执行、可验证的改造路线。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3108B-C4C2-49B3-BB61-9725BFF5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66800"/>
            <a:ext cx="43624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73B52"/>
          </a:solidFill>
          <a:ln xmlns:a="http://schemas.openxmlformats.org/drawingml/2006/main" w="9525">
            <a:solidFill>
              <a:srgbClr val="173B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431C-04DE-4F16-AA18-7AE58A60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企业 AI 应用诊断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与改造平台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D4522-BC93-49B3-9777-73AC24A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143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1C1A5-A5A1-42A7-9D9F-84FE907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55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方法原型与核心诊断引擎验证阶段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A1735-72E9-4081-9991-7BA4F8D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第一阶段切入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企业流程智能摸排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2FD28-BE32-47F9-B5D1-D857C91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7778"/>
                </a:solidFill>
              </a:defRPr>
            </a:pPr>
            <a:r>
              <a:rPr sz="1350" b="1">
                <a:solidFill>
                  <a:srgbClr val="1C7778"/>
                </a:solidFill>
              </a:rPr>
              <a:t>长期愿景：企业 AI 转型能力底座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FD111-7AF0-4435-B7C3-304B8A2E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EC086-A4A8-48EE-ABF9-C5D2945D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第一阶段客户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892A6-2AB8-478B-82F1-AAAD9D8C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720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50至500人的成长型企业：大量 Excel、微信、人工交接、重复录入和跨系统操作；管理层希望引入 AI，但内部缺少专业数字化团队。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750EF-E0D8-4EC6-AA9C-6AAF440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D78"/>
                </a:solidFill>
              </a:defRPr>
            </a:pPr>
            <a:r>
              <a:rPr sz="825">
                <a:solidFill>
                  <a:srgbClr val="5F6D78"/>
                </a:solidFill>
              </a:rPr>
              <a:t>产业合作项目介绍 v0.1   |   1</a:t>
            </a:r>
          </a:p>
        </p:txBody>
      </p:sp>
    </p:spTree>
    <p:extLst>
      <p:ext uri="{BB962C8B-B14F-4D97-AF65-F5344CB8AC3E}">
        <p14:creationId xmlns:p14="http://schemas.microsoft.com/office/powerpoint/2010/main" val="1992746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30403F-8D32-4D2E-9EE7-449CC4EA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7778"/>
                </a:solidFill>
              </a:defRPr>
            </a:pPr>
            <a:r>
              <a:rPr sz="1050" b="1">
                <a:solidFill>
                  <a:srgbClr val="1C7778"/>
                </a:solidFill>
              </a:rPr>
              <a:t>企业 AI 应用诊断与改造平台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57330-D3CE-43B6-90D6-36EC4CA0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6B3D"/>
                </a:solidFill>
              </a:defRPr>
            </a:pPr>
            <a:r>
              <a:rPr sz="1050" b="1">
                <a:solidFill>
                  <a:srgbClr val="D66B3D"/>
                </a:solidFill>
              </a:rPr>
              <a:t>02 / 业务逻辑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43A99-49E0-4740-8CAD-AD27D67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26B6-E274-487F-B2BC-979966C1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32F"/>
                </a:solidFill>
              </a:defRPr>
            </a:pPr>
            <a:r>
              <a:rPr sz="2250" b="1">
                <a:solidFill>
                  <a:srgbClr val="17232F"/>
                </a:solidFill>
              </a:rPr>
              <a:t>企业真正缺的，通常不是一个 Agent，而是对流程的共同理解。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8BF2-77B6-4D8A-8B98-7337354E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企业常见的四个缺口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64CC6-1EEE-448B-A632-858604B8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C7B58-4DAF-47E6-911F-F9DFB46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8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看不到重复劳动具体发生在哪个流程节点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8B117-19E4-4A36-B32B-E56446E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1F78C-4197-4724-B795-64A0E9AC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48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SOP、岗位职责与员工实际操作可能不一致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92D81-10F4-496C-8685-439E8B6C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82AA7-4193-4754-BD30-90C2CBA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48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不同岗位对同一流程的描述可能互相冲突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D48B8-D81C-405F-8C26-FD5B1BD6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1D986-504E-4920-B153-269B9CCF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48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缺少证据、技术条件和验收标准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3554F-8BD5-4AF8-8E7D-05044F3C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5391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9E2"/>
          </a:solidFill>
          <a:ln xmlns:a="http://schemas.openxmlformats.org/drawingml/2006/main" w="9525">
            <a:solidFill>
              <a:srgbClr val="F7E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8D219-BEE1-4AB9-89D1-3D0905B3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本项目的起点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0225F-3F86-43B6-A0C4-2C64C10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32F"/>
                </a:solidFill>
              </a:defRPr>
            </a:pPr>
            <a:r>
              <a:rPr sz="1725" b="1">
                <a:solidFill>
                  <a:srgbClr val="17232F"/>
                </a:solidFill>
              </a:rPr>
              <a:t>先还原触发、步骤、判断、异常和责任，再按流程节点选择合适技术。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02C2D-8269-4F14-8044-2C66C5D4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B52"/>
                </a:solidFill>
              </a:defRPr>
            </a:pPr>
            <a:r>
              <a:rPr sz="1275">
                <a:solidFill>
                  <a:srgbClr val="173B52"/>
                </a:solidFill>
              </a:rPr>
              <a:t>不因企业提出“想上 Agent”就默认推荐 Agent。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7CAAE-4315-4361-B689-491AB69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从管理层授权到改造路线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17F7E-4689-45E3-9932-ACCD4871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C0E4F-18E0-4294-99D6-17C29580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7778"/>
                </a:solidFill>
              </a:defRPr>
            </a:pPr>
            <a:r>
              <a:rPr sz="1125" b="1">
                <a:solidFill>
                  <a:srgbClr val="1C7778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5015F-75A3-4E4E-B890-4EA9533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设定范围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B1B64-1FBC-462D-AEE3-6040DD0D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4A7BC-94C7-4234-BB72-860DD4B0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48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7778"/>
                </a:solidFill>
              </a:defRPr>
            </a:pPr>
            <a:r>
              <a:rPr sz="1125" b="1">
                <a:solidFill>
                  <a:srgbClr val="1C777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13CCB-45A4-47C6-A552-393F4B32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482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补充背景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02C7F-7F13-40BA-882A-9403F58F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D743B-71BB-4859-8B89-59A4D537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7778"/>
                </a:solidFill>
              </a:defRPr>
            </a:pPr>
            <a:r>
              <a:rPr sz="1125" b="1">
                <a:solidFill>
                  <a:srgbClr val="1C7778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738D3-5EB4-44DD-B1FE-D4F0EDD0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482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Agent摸排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D8542-4177-474B-BFEC-A5AB586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530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C09CF-5063-435F-B6B8-648059D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C7778"/>
                </a:solidFill>
              </a:defRPr>
            </a:pPr>
            <a:r>
              <a:rPr sz="1125" b="1">
                <a:solidFill>
                  <a:srgbClr val="1C7778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73AD9-2427-4EF5-B434-F4B7398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流程卡确认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1EDC8B-291B-448B-9985-E2BBCE1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31B94-CC3A-4EFF-851F-007BC501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B3E6C-B8AD-4D90-B2DA-FC08A4FD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异常复核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772B3-FFD9-41C4-95D0-79C6BC6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054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65581-4882-475F-A4DA-33A2DAE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00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C556F8-370F-4779-ABA8-6F339E3D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007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证据合并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989A8-A3C8-469C-8170-6D762AB1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054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0BBDB-ECFE-4647-8B42-B059BB7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196CA-AF7F-4EFB-B2EA-97CF5EE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007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节点诊断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73D0B7-CA12-43DF-B8ED-9E77C89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054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55D5DA-0799-44D6-AEC2-092C98C4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00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F8BE53-0EE4-43A1-88C0-EDAF9458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007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32F"/>
                </a:solidFill>
              </a:defRPr>
            </a:pPr>
            <a:r>
              <a:rPr sz="1125" b="1">
                <a:solidFill>
                  <a:srgbClr val="17232F"/>
                </a:solidFill>
              </a:rPr>
              <a:t>试点路线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82EEC8-CC43-4DA2-B6E0-44818ED6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D78"/>
                </a:solidFill>
              </a:defRPr>
            </a:pPr>
            <a:r>
              <a:rPr sz="825">
                <a:solidFill>
                  <a:srgbClr val="5F6D78"/>
                </a:solidFill>
              </a:rPr>
              <a:t>产业合作项目介绍 v0.1   |   2</a:t>
            </a:r>
          </a:p>
        </p:txBody>
      </p:sp>
    </p:spTree>
    <p:extLst>
      <p:ext uri="{BB962C8B-B14F-4D97-AF65-F5344CB8AC3E}">
        <p14:creationId xmlns:p14="http://schemas.microsoft.com/office/powerpoint/2010/main" val="1586679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0289C-BFAC-4F2D-8E88-2F3B5E9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7778"/>
                </a:solidFill>
              </a:defRPr>
            </a:pPr>
            <a:r>
              <a:rPr sz="1050" b="1">
                <a:solidFill>
                  <a:srgbClr val="1C7778"/>
                </a:solidFill>
              </a:rPr>
              <a:t>企业 AI 应用诊断与改造平台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B9936-85EE-40BF-96B9-28AA818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6B3D"/>
                </a:solidFill>
              </a:defRPr>
            </a:pPr>
            <a:r>
              <a:rPr sz="1050" b="1">
                <a:solidFill>
                  <a:srgbClr val="D66B3D"/>
                </a:solidFill>
              </a:rPr>
              <a:t>03 /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D65BA-3629-4962-A4E0-1F503984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C2314-C25C-4C54-BBEE-3636E4E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32F"/>
                </a:solidFill>
              </a:defRPr>
            </a:pPr>
            <a:r>
              <a:rPr sz="2250" b="1">
                <a:solidFill>
                  <a:srgbClr val="17232F"/>
                </a:solidFill>
              </a:rPr>
              <a:t>把一次性调研，变成可追溯、可持续更新的企业诊断档案。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BBD9E-5686-4756-B5CA-9945CB35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DD765-C230-468A-978A-5F03B2C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2"/>
          </a:solidFill>
          <a:ln xmlns:a="http://schemas.openxmlformats.org/drawingml/2006/main" w="9525">
            <a:solidFill>
              <a:srgbClr val="173B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8EE8F-BF14-4AA6-9C43-855A2BBD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33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B52"/>
                </a:solidFill>
              </a:defRPr>
            </a:pPr>
            <a:r>
              <a:rPr sz="1500" b="1">
                <a:solidFill>
                  <a:srgbClr val="173B5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83943-39F9-4F27-A224-31A0B854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企业项目初始化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4D0EC-ABEE-4822-9DA2-5228E59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企业代号、范围、岗位、授权边界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6C432-1F47-40E8-9DBB-2DBF1A3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95957-1312-4A77-B152-47440DD8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C874F-EE4B-4514-AA70-6ABD15E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33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7778"/>
                </a:solidFill>
              </a:defRPr>
            </a:pPr>
            <a:r>
              <a:rPr sz="1500" b="1">
                <a:solidFill>
                  <a:srgbClr val="1C777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9C3F1-F6E0-4B3B-8CDF-D91DEC73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716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企业材料与背景处理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D767F-6373-43B8-9F92-68D912C1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14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SOP、纪要、转写、Word、PDF、Excel、截图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EF4C4-A925-4FFF-80D7-7F9153D1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42F71-C546-4602-96AA-CAA01F1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45076-F187-4B77-A0B8-E66C75A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933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66B3D"/>
                </a:solidFill>
              </a:defRPr>
            </a:pPr>
            <a:r>
              <a:rPr sz="1500" b="1">
                <a:solidFill>
                  <a:srgbClr val="D66B3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28BAD-3DDB-40E6-8F23-DD0BD6CF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员工 Agent 摸排入口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5D884-EE4B-457A-8BCC-B663FCD0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触发、步骤、工具、判断、异常、耗时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85BF0-2641-420D-9743-EE6BD1B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B784D-5962-43E5-AD67-FBF69F92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2"/>
          </a:solidFill>
          <a:ln xmlns:a="http://schemas.openxmlformats.org/drawingml/2006/main" w="9525">
            <a:solidFill>
              <a:srgbClr val="173B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30C4B-0E28-4DF3-9A96-555396DA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90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B52"/>
                </a:solidFill>
              </a:defRPr>
            </a:pPr>
            <a:r>
              <a:rPr sz="1500" b="1">
                <a:solidFill>
                  <a:srgbClr val="173B52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1C8FC-C4E8-474E-8C89-4BCA3126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异常复核队列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D62C2-A7F7-402E-9782-3944FDCD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模糊、冲突、缺证、责任争议、高风险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94902-DB74-4863-9F5E-4BC696C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60B0D-71BA-41EF-BF1A-376761C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63B40-DDE0-47FA-A9C6-DD239049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7778"/>
                </a:solidFill>
              </a:defRPr>
            </a:pPr>
            <a:r>
              <a:rPr sz="1500" b="1">
                <a:solidFill>
                  <a:srgbClr val="1C7778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0B9D3-2770-42B9-851D-ABA97B9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289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企业诊断工作台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3506B-3AA0-44BA-92BD-63637AEB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规则、工作流、API、RPA、AI、RAG、边界Agent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0A5A7-F59B-495C-A416-D1021A86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52E54F-73B4-417F-A008-E7D9154B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B3950-B44F-4C08-961F-4A140102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190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66B3D"/>
                </a:solidFill>
              </a:defRPr>
            </a:pPr>
            <a:r>
              <a:rPr sz="1500" b="1">
                <a:solidFill>
                  <a:srgbClr val="D66B3D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CAF65-CD58-475F-B636-3698ECCE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管理层可视化报告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AADF1-AE14-47C3-A1AA-11702247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覆盖图、流程、问题节点、机会矩阵、试点路线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AEB030-4165-4974-B59E-8A8DB35F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51AC89-7FDF-4460-9CA2-1FD5807F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C7778"/>
                </a:solidFill>
              </a:defRPr>
            </a:pPr>
            <a:r>
              <a:rPr sz="1275" b="1">
                <a:solidFill>
                  <a:srgbClr val="1C7778"/>
                </a:solidFill>
              </a:rPr>
              <a:t>材料分析是贯穿摸排前、中、后的公共能力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36370-5DA8-42DE-AAC2-0A0F127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员工口述、会议纪要和制度材料分别保留来源；员工确认的流程卡是可复核陈述，不是不可质疑的企业事实。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71AB1C-F5E4-46C1-8021-AE0B5493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D78"/>
                </a:solidFill>
              </a:defRPr>
            </a:pPr>
            <a:r>
              <a:rPr sz="825">
                <a:solidFill>
                  <a:srgbClr val="5F6D78"/>
                </a:solidFill>
              </a:rPr>
              <a:t>产业合作项目介绍 v0.1   |   3</a:t>
            </a:r>
          </a:p>
        </p:txBody>
      </p:sp>
    </p:spTree>
    <p:extLst>
      <p:ext uri="{BB962C8B-B14F-4D97-AF65-F5344CB8AC3E}">
        <p14:creationId xmlns:p14="http://schemas.microsoft.com/office/powerpoint/2010/main" val="1868776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0414D9-56BA-4E37-BFB1-509BDA25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7778"/>
                </a:solidFill>
              </a:defRPr>
            </a:pPr>
            <a:r>
              <a:rPr sz="1050" b="1">
                <a:solidFill>
                  <a:srgbClr val="1C7778"/>
                </a:solidFill>
              </a:rPr>
              <a:t>企业 AI 应用诊断与改造平台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403BC-FC07-40F3-B4B1-9FC42BD8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6B3D"/>
                </a:solidFill>
              </a:defRPr>
            </a:pPr>
            <a:r>
              <a:rPr sz="1050" b="1">
                <a:solidFill>
                  <a:srgbClr val="D66B3D"/>
                </a:solidFill>
              </a:rPr>
              <a:t>04 / 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C9924-3E23-4BCD-8D5A-183A3EB3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0E82-0F31-45C8-B8E2-C5198B1C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32F"/>
                </a:solidFill>
              </a:defRPr>
            </a:pPr>
            <a:r>
              <a:rPr sz="2250" b="1">
                <a:solidFill>
                  <a:srgbClr val="17232F"/>
                </a:solidFill>
              </a:rPr>
              <a:t>方法底座已经形成，下一步用真实企业验证产品化路径。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515DD-91CA-469D-8741-8064F119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89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E9E2"/>
          </a:solidFill>
          <a:ln xmlns:a="http://schemas.openxmlformats.org/drawingml/2006/main" w="9525">
            <a:solidFill>
              <a:srgbClr val="F7E9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96D22-0A73-4B4F-B64B-3133DF37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当前证据边界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D1DCB-2F8B-4EFF-B7F4-24B5E5FA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859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核心方法已通过模拟案例和本地测试验证；尚不能宣称真实企业收益、生产可用、跨平台兼容或已有付费客户。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B6F1F-469D-40ED-9577-CAC8755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六个月推进计划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AEA0C-F0CE-4821-AD2F-999C65B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22765-FDCA-4D2B-82B2-19CD947A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2"/>
          </a:solidFill>
          <a:ln xmlns:a="http://schemas.openxmlformats.org/drawingml/2006/main" w="9525">
            <a:solidFill>
              <a:srgbClr val="173B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3288E-CAB8-46AD-A136-FF6DDFE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第 1 至 2 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0F3D1-645F-48B6-8462-686CDF0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3B52"/>
                </a:solidFill>
              </a:defRPr>
            </a:pPr>
            <a:r>
              <a:rPr sz="1050">
                <a:solidFill>
                  <a:srgbClr val="173B52"/>
                </a:solidFill>
              </a:rPr>
              <a:t>MVP 收敛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462F-4959-44D6-A7B3-26962CB3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32F"/>
                </a:solidFill>
              </a:defRPr>
            </a:pPr>
            <a:r>
              <a:rPr sz="1050">
                <a:solidFill>
                  <a:srgbClr val="17232F"/>
                </a:solidFill>
              </a:rPr>
              <a:t>完善核心诊断体系，开发统一入口MVP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24BFB-E599-409D-B26A-7E7F9D77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042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61409-85F8-4533-BEBA-7ADE542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04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A513B-B835-499F-806F-E85BE70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第 3 至 4 个月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9F7C7-D89D-477B-B8D9-2A6D4D86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C7778"/>
                </a:solidFill>
              </a:defRPr>
            </a:pPr>
            <a:r>
              <a:rPr sz="1050">
                <a:solidFill>
                  <a:srgbClr val="1C7778"/>
                </a:solidFill>
              </a:rPr>
              <a:t>联合验证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401BB-4B8D-447A-9D6C-5706066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32F"/>
                </a:solidFill>
              </a:defRPr>
            </a:pPr>
            <a:r>
              <a:rPr sz="1050">
                <a:solidFill>
                  <a:srgbClr val="17232F"/>
                </a:solidFill>
              </a:rPr>
              <a:t>引入1至3家企业，覆盖高频流程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A9DC6-8A59-4AF6-AA4F-6BB82F1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042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26DFC-6843-4F0E-8FD4-C81B45FC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04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BC505-B0DE-4EFF-81E8-B88338D9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F"/>
                </a:solidFill>
              </a:defRPr>
            </a:pPr>
            <a:r>
              <a:rPr sz="1350" b="1">
                <a:solidFill>
                  <a:srgbClr val="17232F"/>
                </a:solidFill>
              </a:rPr>
              <a:t>第 5 至 6 个月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95554-2754-4678-AF15-DAB42399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66B3D"/>
                </a:solidFill>
              </a:defRPr>
            </a:pPr>
            <a:r>
              <a:rPr sz="1050">
                <a:solidFill>
                  <a:srgbClr val="D66B3D"/>
                </a:solidFill>
              </a:rPr>
              <a:t>产品迭代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76C84-713D-4952-A1E5-6AF5148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32F"/>
                </a:solidFill>
              </a:defRPr>
            </a:pPr>
            <a:r>
              <a:rPr sz="1050">
                <a:solidFill>
                  <a:srgbClr val="17232F"/>
                </a:solidFill>
              </a:rPr>
              <a:t>形成案例、交付标准和初步付费方案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3701F-0568-460E-9491-ADC09529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第一阶段成功指标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45D99-0281-478C-9106-1C4758F5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9C958-CA0A-43F0-8C7C-09CA082C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1至3家企业；每家至少2个部门、10名流程参与者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42D05-2C53-4141-8241-034F09D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40886-EA57-42C1-A0D5-4D85730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6425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每家识别不少于3个有证据支撑的候选场景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5754A-B3FD-40B9-A089-A6690972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B4C74-ECCD-4077-90E0-BEDD20B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每家至少1个场景进入试点设计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CD7F94-D0E5-436F-BF25-06476CB8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B3D"/>
                </a:solidFill>
              </a:defRPr>
            </a:pPr>
            <a:r>
              <a:rPr sz="1650" b="1">
                <a:solidFill>
                  <a:srgbClr val="D66B3D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73F88A-970E-4165-8938-8CC81F69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32F"/>
                </a:solidFill>
              </a:defRPr>
            </a:pPr>
            <a:r>
              <a:rPr sz="1275">
                <a:solidFill>
                  <a:srgbClr val="17232F"/>
                </a:solidFill>
              </a:rPr>
              <a:t>形成1个付费试点、采购意向或后续合作确认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A04EE-B8CC-471A-BA21-12C45CE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D78"/>
                </a:solidFill>
              </a:defRPr>
            </a:pPr>
            <a:r>
              <a:rPr sz="825">
                <a:solidFill>
                  <a:srgbClr val="5F6D78"/>
                </a:solidFill>
              </a:rPr>
              <a:t>产业合作项目介绍 v0.1   |   4</a:t>
            </a:r>
          </a:p>
        </p:txBody>
      </p:sp>
    </p:spTree>
    <p:extLst>
      <p:ext uri="{BB962C8B-B14F-4D97-AF65-F5344CB8AC3E}">
        <p14:creationId xmlns:p14="http://schemas.microsoft.com/office/powerpoint/2010/main" val="526057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F74A26-FEF8-4C9C-9227-64A08F82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7778"/>
                </a:solidFill>
              </a:defRPr>
            </a:pPr>
            <a:r>
              <a:rPr sz="1050" b="1">
                <a:solidFill>
                  <a:srgbClr val="1C7778"/>
                </a:solidFill>
              </a:rPr>
              <a:t>企业 AI 应用诊断与改造平台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2533D-46BC-4BA6-8001-2C77229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6B3D"/>
                </a:solidFill>
              </a:defRPr>
            </a:pPr>
            <a:r>
              <a:rPr sz="1050" b="1">
                <a:solidFill>
                  <a:srgbClr val="D66B3D"/>
                </a:solidFill>
              </a:rPr>
              <a:t>05 / 合作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906DA-CA99-4C85-AE61-43A121D0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A2359-BA5E-4603-9D0F-7F12748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32F"/>
                </a:solidFill>
              </a:defRPr>
            </a:pPr>
            <a:r>
              <a:rPr sz="2250" b="1">
                <a:solidFill>
                  <a:srgbClr val="17232F"/>
                </a:solidFill>
              </a:rPr>
              <a:t>从联合验证开始，把方法原型变成企业愿意使用和付费的产品。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5466-3972-43A5-85D8-DFA03CCD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初步商业模式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D9A57-F5C8-4528-BB84-2ADE691D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1025B-A019-4CE5-B2B2-E3AAAA2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2B914-46F6-436B-B851-3BC91557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F"/>
                </a:solidFill>
              </a:defRPr>
            </a:pPr>
            <a:r>
              <a:rPr sz="1275" b="1">
                <a:solidFill>
                  <a:srgbClr val="17232F"/>
                </a:solidFill>
              </a:rPr>
              <a:t>平台订阅费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C26F9-D7BC-4517-8441-427BD2F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项目入口、员工摸排、材料管理、诊断档案和管理层报告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8FC47-F87C-42A3-80E9-5C869B81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CB80C-97EC-477F-84E7-4FD9A40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84DF4-C8D8-4AA1-9991-DF1C4304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F"/>
                </a:solidFill>
              </a:defRPr>
            </a:pPr>
            <a:r>
              <a:rPr sz="1275" b="1">
                <a:solidFill>
                  <a:srgbClr val="17232F"/>
                </a:solidFill>
              </a:rPr>
              <a:t>诊断项目额度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66670-8A32-47D1-A00B-F57D377C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按企业、部门、流程范围或诊断项目计费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555E8-F042-48CC-AD22-2771296D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DC501-C59D-4262-B3C7-97B71F75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8CAF1-93E1-4CD6-874A-62CA3A1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F"/>
                </a:solidFill>
              </a:defRPr>
            </a:pPr>
            <a:r>
              <a:rPr sz="1275" b="1">
                <a:solidFill>
                  <a:srgbClr val="17232F"/>
                </a:solidFill>
              </a:rPr>
              <a:t>可选线上实施指导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69989-DF23-4C69-ACF3-962F724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D78"/>
                </a:solidFill>
              </a:defRPr>
            </a:pPr>
            <a:r>
              <a:rPr sz="975">
                <a:solidFill>
                  <a:srgbClr val="5F6D78"/>
                </a:solidFill>
              </a:rPr>
              <a:t>启动、异常复核、试点设计与验收指导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6CA56-C34A-430D-AD8C-9A9E0ECF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D78"/>
                </a:solidFill>
              </a:defRPr>
            </a:pPr>
            <a:r>
              <a:rPr sz="1125" b="1">
                <a:solidFill>
                  <a:srgbClr val="5F6D78"/>
                </a:solidFill>
              </a:rPr>
              <a:t>当前合作诉求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3103F-1ED9-4B8F-9B10-72ABB78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B52"/>
          </a:solidFill>
          <a:ln xmlns:a="http://schemas.openxmlformats.org/drawingml/2006/main" w="9525">
            <a:solidFill>
              <a:srgbClr val="173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E8574-67EF-437D-AB08-9C014EFA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企业验证资源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9A755-CE0A-40F3-ADD8-CE3018BF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1至3家企业，开展真实流程摸排和产品验证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1E507-D85E-4F63-9EA7-B137E91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7778"/>
          </a:solidFill>
          <a:ln xmlns:a="http://schemas.openxmlformats.org/drawingml/2006/main" w="9525">
            <a:solidFill>
              <a:srgbClr val="1C77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28514-69BA-47AD-9FD2-6FD3E7C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4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启动资金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78B59-28B3-41D9-A877-840CD60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统一入口MVP、数据安全、可视化报告和试点交付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6EFD8-74DC-4A5E-BB38-DD17DAE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E615B-AAD1-446B-BF91-6F96EF2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4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产品与技术资源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FF92D-CD3F-4ABC-8232-FC6599B0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9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平台工程化、企业系统集成与持续开发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DF75B-4BAC-4045-8288-9682F199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4589A-F4BB-467B-8A6B-C13DB1D5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B52"/>
                </a:solidFill>
              </a:defRPr>
            </a:pPr>
            <a:r>
              <a:rPr sz="1275" b="1">
                <a:solidFill>
                  <a:srgbClr val="173B52"/>
                </a:solidFill>
              </a:rPr>
              <a:t>合作可从企业联合验证开始，达到双方约定的产品、诊断和商业指标后，再讨论投资或更深层合作。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CAF2A-EFA9-4066-ACC8-620D2FD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D78"/>
                </a:solidFill>
              </a:defRPr>
            </a:pPr>
            <a:r>
              <a:rPr sz="900">
                <a:solidFill>
                  <a:srgbClr val="5F6D78"/>
                </a:solidFill>
              </a:rPr>
              <a:t>项目尚处于方法原型与核心诊断引擎验证阶段，不构成对收益、融资金额或交付能力的承诺。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27468-04CD-47E6-A8B3-32C8F95A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D78"/>
                </a:solidFill>
              </a:defRPr>
            </a:pPr>
            <a:r>
              <a:rPr sz="825">
                <a:solidFill>
                  <a:srgbClr val="5F6D78"/>
                </a:solidFill>
              </a:rPr>
              <a:t>产业合作项目介绍 v0.1   |   5</a:t>
            </a:r>
          </a:p>
        </p:txBody>
      </p:sp>
    </p:spTree>
    <p:extLst>
      <p:ext uri="{BB962C8B-B14F-4D97-AF65-F5344CB8AC3E}">
        <p14:creationId xmlns:p14="http://schemas.microsoft.com/office/powerpoint/2010/main" val="1107993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2026-08-14T06:41:51.2580000Z</dcterms:created>
  <dcterms:modified xsi:type="dcterms:W3CDTF">2026-08-14T06:41:51.2580000Z</dcterms:modified>
</coreProperties>
</file>